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58" r:id="rId8"/>
    <p:sldId id="262" r:id="rId9"/>
    <p:sldId id="264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22"/>
  </p:normalViewPr>
  <p:slideViewPr>
    <p:cSldViewPr snapToGrid="0">
      <p:cViewPr varScale="1">
        <p:scale>
          <a:sx n="54" d="100"/>
          <a:sy n="54" d="100"/>
        </p:scale>
        <p:origin x="7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" name="Shape 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Logo DBB CO.png" descr="Logo DBB CO.png"/>
          <p:cNvPicPr>
            <a:picLocks noChangeAspect="1"/>
          </p:cNvPicPr>
          <p:nvPr/>
        </p:nvPicPr>
        <p:blipFill>
          <a:blip r:embed="rId2">
            <a:alphaModFix amt="9659"/>
          </a:blip>
          <a:stretch>
            <a:fillRect/>
          </a:stretch>
        </p:blipFill>
        <p:spPr>
          <a:xfrm>
            <a:off x="18046811" y="9218067"/>
            <a:ext cx="7420840" cy="89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Linien"/>
          <p:cNvSpPr/>
          <p:nvPr/>
        </p:nvSpPr>
        <p:spPr>
          <a:xfrm>
            <a:off x="1066800" y="6680200"/>
            <a:ext cx="22252676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" name="Titeltext"/>
          <p:cNvSpPr txBox="1">
            <a:spLocks noGrp="1"/>
          </p:cNvSpPr>
          <p:nvPr>
            <p:ph type="title"/>
          </p:nvPr>
        </p:nvSpPr>
        <p:spPr>
          <a:xfrm>
            <a:off x="1066800" y="1854200"/>
            <a:ext cx="22237700" cy="4470400"/>
          </a:xfrm>
          <a:prstGeom prst="rect">
            <a:avLst/>
          </a:prstGeom>
        </p:spPr>
        <p:txBody>
          <a:bodyPr/>
          <a:lstStyle>
            <a:lvl1pPr>
              <a:defRPr sz="7000"/>
            </a:lvl1pPr>
          </a:lstStyle>
          <a:p>
            <a:r>
              <a:t>Titeltext</a:t>
            </a:r>
          </a:p>
        </p:txBody>
      </p:sp>
      <p:sp>
        <p:nvSpPr>
          <p:cNvPr id="17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1066800" y="7048500"/>
            <a:ext cx="22237700" cy="488777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8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19" name="Logo DBB Big.png" descr="Logo DBB 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5090" y="635644"/>
            <a:ext cx="4725071" cy="29329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-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Logo DBB CO.png" descr="Logo DBB CO.png"/>
          <p:cNvPicPr>
            <a:picLocks noChangeAspect="1"/>
          </p:cNvPicPr>
          <p:nvPr/>
        </p:nvPicPr>
        <p:blipFill>
          <a:blip r:embed="rId2">
            <a:alphaModFix amt="9659"/>
          </a:blip>
          <a:stretch>
            <a:fillRect/>
          </a:stretch>
        </p:blipFill>
        <p:spPr>
          <a:xfrm>
            <a:off x="5981811" y="9218067"/>
            <a:ext cx="7420840" cy="89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Linien"/>
          <p:cNvSpPr/>
          <p:nvPr/>
        </p:nvSpPr>
        <p:spPr>
          <a:xfrm>
            <a:off x="1066800" y="6845300"/>
            <a:ext cx="10002141" cy="0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Teilansicht des Kolosseums von unten gesehen unter blauem Himmel"/>
          <p:cNvSpPr>
            <a:spLocks noGrp="1"/>
          </p:cNvSpPr>
          <p:nvPr>
            <p:ph type="pic" idx="21"/>
          </p:nvPr>
        </p:nvSpPr>
        <p:spPr>
          <a:xfrm>
            <a:off x="9867900" y="-12700"/>
            <a:ext cx="20929600" cy="13982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9" name="Titeltext"/>
          <p:cNvSpPr txBox="1">
            <a:spLocks noGrp="1"/>
          </p:cNvSpPr>
          <p:nvPr>
            <p:ph type="title"/>
          </p:nvPr>
        </p:nvSpPr>
        <p:spPr>
          <a:xfrm>
            <a:off x="1066800" y="2019300"/>
            <a:ext cx="10007600" cy="4470400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30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066800" y="7213600"/>
            <a:ext cx="10007600" cy="4470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1269209" y="12985800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32" name="Logo DBB Big.png" descr="Logo DBB 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478" y="147823"/>
            <a:ext cx="2673730" cy="16596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40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Logo DBB CO.png" descr="Logo DBB CO.png"/>
          <p:cNvPicPr>
            <a:picLocks noChangeAspect="1"/>
          </p:cNvPicPr>
          <p:nvPr/>
        </p:nvPicPr>
        <p:blipFill>
          <a:blip r:embed="rId2">
            <a:alphaModFix amt="9659"/>
          </a:blip>
          <a:stretch>
            <a:fillRect/>
          </a:stretch>
        </p:blipFill>
        <p:spPr>
          <a:xfrm>
            <a:off x="18046811" y="9218067"/>
            <a:ext cx="7420840" cy="89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ebene 1…"/>
          <p:cNvSpPr txBox="1">
            <a:spLocks noGrp="1"/>
          </p:cNvSpPr>
          <p:nvPr>
            <p:ph type="body" idx="1"/>
          </p:nvPr>
        </p:nvSpPr>
        <p:spPr>
          <a:xfrm>
            <a:off x="1066800" y="2629131"/>
            <a:ext cx="22237700" cy="9867669"/>
          </a:xfrm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50" name="Linien"/>
          <p:cNvSpPr/>
          <p:nvPr/>
        </p:nvSpPr>
        <p:spPr>
          <a:xfrm>
            <a:off x="1066800" y="2133600"/>
            <a:ext cx="22252698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Titeltext"/>
          <p:cNvSpPr txBox="1">
            <a:spLocks noGrp="1"/>
          </p:cNvSpPr>
          <p:nvPr>
            <p:ph type="body" sz="quarter" idx="21"/>
          </p:nvPr>
        </p:nvSpPr>
        <p:spPr>
          <a:xfrm>
            <a:off x="1066800" y="469900"/>
            <a:ext cx="22237700" cy="14356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SzTx/>
              <a:buFontTx/>
              <a:buNone/>
              <a:defRPr sz="5800">
                <a:solidFill>
                  <a:srgbClr val="000000"/>
                </a:solidFill>
              </a:defRPr>
            </a:lvl1pPr>
          </a:lstStyle>
          <a:p>
            <a:r>
              <a:t>Titeltext</a:t>
            </a:r>
          </a:p>
        </p:txBody>
      </p:sp>
      <p:pic>
        <p:nvPicPr>
          <p:cNvPr id="52" name="Logo DBB Big.png" descr="Logo DBB 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5478" y="147823"/>
            <a:ext cx="2673730" cy="16596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, Punkte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Logo DBB CO.png" descr="Logo DBB CO.png"/>
          <p:cNvPicPr>
            <a:picLocks noChangeAspect="1"/>
          </p:cNvPicPr>
          <p:nvPr/>
        </p:nvPicPr>
        <p:blipFill>
          <a:blip r:embed="rId2">
            <a:alphaModFix amt="9659"/>
          </a:blip>
          <a:stretch>
            <a:fillRect/>
          </a:stretch>
        </p:blipFill>
        <p:spPr>
          <a:xfrm>
            <a:off x="5981811" y="9218067"/>
            <a:ext cx="7420840" cy="89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Reihe blauer Gondeln mit Venedig im Hintergrund"/>
          <p:cNvSpPr>
            <a:spLocks noGrp="1"/>
          </p:cNvSpPr>
          <p:nvPr>
            <p:ph type="pic" idx="21"/>
          </p:nvPr>
        </p:nvSpPr>
        <p:spPr>
          <a:xfrm>
            <a:off x="12052300" y="-1016000"/>
            <a:ext cx="12788900" cy="1903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1066800" y="2628950"/>
            <a:ext cx="9525000" cy="986785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2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11269209" y="12985800"/>
            <a:ext cx="368505" cy="374600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63" name="Linien"/>
          <p:cNvSpPr/>
          <p:nvPr/>
        </p:nvSpPr>
        <p:spPr>
          <a:xfrm flipV="1">
            <a:off x="1066799" y="2133599"/>
            <a:ext cx="10125048" cy="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4" name="Titeltext"/>
          <p:cNvSpPr txBox="1"/>
          <p:nvPr/>
        </p:nvSpPr>
        <p:spPr>
          <a:xfrm>
            <a:off x="1066800" y="469900"/>
            <a:ext cx="10125047" cy="143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>
              <a:defRPr sz="5800"/>
            </a:lvl1pPr>
          </a:lstStyle>
          <a:p>
            <a:r>
              <a:t>Titeltext</a:t>
            </a:r>
          </a:p>
        </p:txBody>
      </p:sp>
      <p:pic>
        <p:nvPicPr>
          <p:cNvPr id="65" name="Logo DBB Big.png" descr="Logo DBB 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478" y="147823"/>
            <a:ext cx="2673730" cy="16596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Logo DBB CO.png" descr="Logo DBB CO.png"/>
          <p:cNvPicPr>
            <a:picLocks noChangeAspect="1"/>
          </p:cNvPicPr>
          <p:nvPr/>
        </p:nvPicPr>
        <p:blipFill>
          <a:blip r:embed="rId2">
            <a:alphaModFix amt="9659"/>
          </a:blip>
          <a:stretch>
            <a:fillRect/>
          </a:stretch>
        </p:blipFill>
        <p:spPr>
          <a:xfrm>
            <a:off x="18046811" y="9218067"/>
            <a:ext cx="7420840" cy="89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ebene 1…"/>
          <p:cNvSpPr txBox="1">
            <a:spLocks noGrp="1"/>
          </p:cNvSpPr>
          <p:nvPr>
            <p:ph type="body" idx="1"/>
          </p:nvPr>
        </p:nvSpPr>
        <p:spPr>
          <a:xfrm>
            <a:off x="1663700" y="1244600"/>
            <a:ext cx="21031200" cy="11201400"/>
          </a:xfrm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75" name="Logo DBB Big.png" descr="Logo DBB 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5478" y="147823"/>
            <a:ext cx="2673730" cy="16596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Luftaufnahme einer alten Stadt in Italien"/>
          <p:cNvSpPr>
            <a:spLocks noGrp="1"/>
          </p:cNvSpPr>
          <p:nvPr>
            <p:ph type="pic" idx="21"/>
          </p:nvPr>
        </p:nvSpPr>
        <p:spPr>
          <a:xfrm>
            <a:off x="-12700" y="-25400"/>
            <a:ext cx="24384000" cy="177743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 DBB CO.png" descr="Logo DBB CO.png"/>
          <p:cNvPicPr>
            <a:picLocks noChangeAspect="1"/>
          </p:cNvPicPr>
          <p:nvPr/>
        </p:nvPicPr>
        <p:blipFill>
          <a:blip r:embed="rId2">
            <a:alphaModFix amt="9659"/>
          </a:blip>
          <a:stretch>
            <a:fillRect/>
          </a:stretch>
        </p:blipFill>
        <p:spPr>
          <a:xfrm>
            <a:off x="18046811" y="9218067"/>
            <a:ext cx="7420840" cy="89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92" name="Logo DBB Big.png" descr="Logo DBB 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5478" y="147823"/>
            <a:ext cx="2673730" cy="16596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DBB CO.png" descr="Logo DBB CO.png"/>
          <p:cNvPicPr>
            <a:picLocks noChangeAspect="1"/>
          </p:cNvPicPr>
          <p:nvPr/>
        </p:nvPicPr>
        <p:blipFill>
          <a:blip r:embed="rId10">
            <a:alphaModFix amt="9659"/>
          </a:blip>
          <a:stretch>
            <a:fillRect/>
          </a:stretch>
        </p:blipFill>
        <p:spPr>
          <a:xfrm>
            <a:off x="18046811" y="9218067"/>
            <a:ext cx="7420840" cy="899454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Linien"/>
          <p:cNvSpPr/>
          <p:nvPr/>
        </p:nvSpPr>
        <p:spPr>
          <a:xfrm>
            <a:off x="1066800" y="2133600"/>
            <a:ext cx="22252698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iteltext"/>
          <p:cNvSpPr txBox="1">
            <a:spLocks noGrp="1"/>
          </p:cNvSpPr>
          <p:nvPr>
            <p:ph type="title"/>
          </p:nvPr>
        </p:nvSpPr>
        <p:spPr>
          <a:xfrm>
            <a:off x="1066800" y="469900"/>
            <a:ext cx="22237700" cy="143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Titeltext</a:t>
            </a:r>
          </a:p>
        </p:txBody>
      </p:sp>
      <p:sp>
        <p:nvSpPr>
          <p:cNvPr id="5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3216221" y="12985800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18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6" name="Logo DBB Big.png" descr="Logo DBB Bi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35478" y="147823"/>
            <a:ext cx="2673730" cy="1659665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ebene 1…"/>
          <p:cNvSpPr txBox="1">
            <a:spLocks noGrp="1"/>
          </p:cNvSpPr>
          <p:nvPr>
            <p:ph type="body" idx="1"/>
          </p:nvPr>
        </p:nvSpPr>
        <p:spPr>
          <a:xfrm>
            <a:off x="1066800" y="3124200"/>
            <a:ext cx="22237700" cy="937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sz="5000" b="0" i="0" u="none" strike="noStrike" cap="none" spc="0" baseline="0">
          <a:solidFill>
            <a:srgbClr val="434343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Zum Bearbeiten doppelklicke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IT Projekt</a:t>
            </a:r>
            <a:endParaRPr dirty="0"/>
          </a:p>
        </p:txBody>
      </p:sp>
      <p:sp>
        <p:nvSpPr>
          <p:cNvPr id="102" name="Zum Bearbeiten doppelklicken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/>
              <a:t>Für das 3. Lehrjahr</a:t>
            </a:r>
            <a:endParaRPr dirty="0"/>
          </a:p>
        </p:txBody>
      </p:sp>
      <p:sp>
        <p:nvSpPr>
          <p:cNvPr id="10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3343323" y="12985800"/>
            <a:ext cx="241402" cy="3746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EFB84DE-647B-F98F-779C-C8905B8F6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dem IT Projekt sollen Sie eine Anwendung entwickeln, die Ihnen im Alltag oder im Berufsleben einen Mehrwert bietet.</a:t>
            </a:r>
          </a:p>
          <a:p>
            <a:r>
              <a:rPr lang="de-DE" dirty="0"/>
              <a:t>Sie arbeiten entweder in zweier Teams oder allein.</a:t>
            </a:r>
          </a:p>
          <a:p>
            <a:r>
              <a:rPr lang="de-DE" dirty="0"/>
              <a:t>Die Anwendung muss eine Benutzeroberfläche und eine Datenbankanbindung besitzen.</a:t>
            </a:r>
          </a:p>
          <a:p>
            <a:r>
              <a:rPr lang="de-DE" dirty="0"/>
              <a:t>Der Projektablauf orientiert sich an der IHK bezogen auf Projektantrag, Durchführung und Präsentation.</a:t>
            </a:r>
          </a:p>
          <a:p>
            <a:r>
              <a:rPr lang="de-DE" dirty="0"/>
              <a:t>Die Fächer SD, VP und GI beteiligen sich an dem Projekt.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70ACBC-F818-F32A-0976-B68384F265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Konzept</a:t>
            </a:r>
          </a:p>
        </p:txBody>
      </p:sp>
    </p:spTree>
    <p:extLst>
      <p:ext uri="{BB962C8B-B14F-4D97-AF65-F5344CB8AC3E}">
        <p14:creationId xmlns:p14="http://schemas.microsoft.com/office/powerpoint/2010/main" val="15486981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7B93102-2F7D-D710-2D93-550F77070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Für das Fach bewertungsrelevante Bausteine:</a:t>
            </a:r>
          </a:p>
          <a:p>
            <a:r>
              <a:rPr lang="de-DE" dirty="0"/>
              <a:t>UML: Klassen, Aktivitäts- und Sequenzdiagramm</a:t>
            </a:r>
          </a:p>
          <a:p>
            <a:r>
              <a:rPr lang="de-DE" dirty="0"/>
              <a:t>Programmierung in einer objektorientierten Sprache</a:t>
            </a:r>
          </a:p>
          <a:p>
            <a:pPr lvl="1"/>
            <a:r>
              <a:rPr lang="de-DE" dirty="0"/>
              <a:t>Java, Python oder C#</a:t>
            </a:r>
          </a:p>
          <a:p>
            <a:r>
              <a:rPr lang="de-DE" dirty="0"/>
              <a:t>Anbindung an eine relationale Datenbank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CCC895-7A13-0D24-4E0F-77A8A857FD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SD – Softwareentwicklung und Datenmanagement</a:t>
            </a:r>
          </a:p>
        </p:txBody>
      </p:sp>
    </p:spTree>
    <p:extLst>
      <p:ext uri="{BB962C8B-B14F-4D97-AF65-F5344CB8AC3E}">
        <p14:creationId xmlns:p14="http://schemas.microsoft.com/office/powerpoint/2010/main" val="27289286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03A9-577C-A227-C0AE-4179F5167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90A4D23-9E92-7984-CD1F-947384FA0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Für das Fach bewertungsrelevante Bausteine:</a:t>
            </a:r>
          </a:p>
          <a:p>
            <a:r>
              <a:rPr lang="de-DE" dirty="0"/>
              <a:t>UML: Zustands- und Use-Case-Diagramm</a:t>
            </a:r>
          </a:p>
          <a:p>
            <a:r>
              <a:rPr lang="de-DE" dirty="0"/>
              <a:t>Benutzeroberfläche</a:t>
            </a:r>
          </a:p>
          <a:p>
            <a:r>
              <a:rPr lang="de-DE" dirty="0"/>
              <a:t>Testprotokoll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565D96-6D8C-47D8-25C0-BE9BEC5A77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VP – Entwicklung vernetzter Prozesse</a:t>
            </a:r>
          </a:p>
        </p:txBody>
      </p:sp>
    </p:spTree>
    <p:extLst>
      <p:ext uri="{BB962C8B-B14F-4D97-AF65-F5344CB8AC3E}">
        <p14:creationId xmlns:p14="http://schemas.microsoft.com/office/powerpoint/2010/main" val="5419782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ED75-4996-0633-0049-94843D46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93B55AB-6677-3145-085F-E5993B72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Für das Fach bewertungsrelevante Bausteine:</a:t>
            </a:r>
          </a:p>
          <a:p>
            <a:r>
              <a:rPr lang="de-DE" dirty="0"/>
              <a:t>Projektantrag</a:t>
            </a:r>
          </a:p>
          <a:p>
            <a:r>
              <a:rPr lang="de-DE" dirty="0"/>
              <a:t>User Stories</a:t>
            </a:r>
          </a:p>
          <a:p>
            <a:r>
              <a:rPr lang="de-DE" dirty="0"/>
              <a:t>Benutzerdokumentation (Installation, Nutzung, Wartung)</a:t>
            </a:r>
          </a:p>
          <a:p>
            <a:r>
              <a:rPr lang="de-DE" dirty="0"/>
              <a:t>Datenbankmodell (3. NF)</a:t>
            </a:r>
          </a:p>
          <a:p>
            <a:r>
              <a:rPr lang="de-DE" dirty="0"/>
              <a:t>Projektpräsentation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00CEEC-91FF-B0A4-0027-8E83B8FBA1A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GI – Gestaltung von IT-Dienstleistungen</a:t>
            </a:r>
          </a:p>
        </p:txBody>
      </p:sp>
    </p:spTree>
    <p:extLst>
      <p:ext uri="{BB962C8B-B14F-4D97-AF65-F5344CB8AC3E}">
        <p14:creationId xmlns:p14="http://schemas.microsoft.com/office/powerpoint/2010/main" val="24401378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1C3A495-F3BA-D08B-E069-A60C056FB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de-DE" dirty="0"/>
              <a:t>Entsprechend der Rahmenbedingungen der betrieblichen Projektarbeit ist die Fähigkeit nachzuweisen</a:t>
            </a:r>
          </a:p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de-DE" dirty="0"/>
              <a:t>kundenspezifische Anforderungen zu analysieren, die Projektumsetzung zu planen und dabei die zugehörigen betrieblichen Prozesse zu berücksichtigen und die bestehenden Regeln einzuhalten,</a:t>
            </a:r>
            <a:br>
              <a:rPr lang="de-DE" dirty="0"/>
            </a:br>
            <a:r>
              <a:rPr lang="de-DE" dirty="0"/>
              <a:t>(Projektantrag, Use-Cases)</a:t>
            </a:r>
          </a:p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de-DE" dirty="0"/>
              <a:t>Daten zu identifizieren, zu klassifizieren, zu modellieren, unter Nutzung mathematischer Vorhersagemodelle und statistischer Verfahren zu analysieren und die Datenqualität sicherzustellen,</a:t>
            </a:r>
            <a:br>
              <a:rPr lang="de-DE" dirty="0"/>
            </a:br>
            <a:r>
              <a:rPr lang="de-DE" dirty="0"/>
              <a:t>(ersetzt die Programmierung und die Anbindung an eine relationale Datenbank in SD)</a:t>
            </a:r>
          </a:p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de-DE" dirty="0"/>
              <a:t>die Analyseergebnisse aufzubereiten und Optimierungsmöglichkeiten aufzuzeigen sowie</a:t>
            </a:r>
            <a:br>
              <a:rPr lang="de-DE" dirty="0"/>
            </a:br>
            <a:r>
              <a:rPr lang="de-DE" dirty="0"/>
              <a:t>(ersetzt die Benutzeroberfläche und die Testprotokolle in VP)</a:t>
            </a:r>
          </a:p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de-DE" dirty="0"/>
              <a:t>Projekte der Datenanalyse anforderungsgerecht zu dokumentieren.</a:t>
            </a:r>
            <a:br>
              <a:rPr lang="de-DE" dirty="0"/>
            </a:br>
            <a:r>
              <a:rPr lang="de-DE" dirty="0"/>
              <a:t>(ersetzt die User Stories und die Benutzerdokumentation in GI)</a:t>
            </a:r>
          </a:p>
          <a:p>
            <a:pPr lvl="0">
              <a:lnSpc>
                <a:spcPct val="160000"/>
              </a:lnSpc>
              <a:spcBef>
                <a:spcPts val="0"/>
              </a:spcBef>
            </a:pPr>
            <a:r>
              <a:rPr lang="de-DE" dirty="0"/>
              <a:t>Auch wenn sie in dem Projekt nicht zwingend verwendet werden müssen, sind passende Klassen-, Aktivitäts-, Sequenz- und Zustandsdiagramme sowie ein Datenbankmodell in der dritten Normalform zu erstellen.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0F1348-B957-D209-F3DD-7456641220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Nur für Daten- und Prozessanalytiker</a:t>
            </a:r>
          </a:p>
        </p:txBody>
      </p:sp>
    </p:spTree>
    <p:extLst>
      <p:ext uri="{BB962C8B-B14F-4D97-AF65-F5344CB8AC3E}">
        <p14:creationId xmlns:p14="http://schemas.microsoft.com/office/powerpoint/2010/main" val="39894843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0729986-9E83-E78B-90C4-50B9212D7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Zeitlicher Umfang: (SD (6 UE) + VP (6 UE) + GI (3 UE)) * 6 Wochen = 90 UE</a:t>
            </a:r>
            <a:br>
              <a:rPr lang="de-DE" dirty="0"/>
            </a:br>
            <a:r>
              <a:rPr lang="de-DE" dirty="0"/>
              <a:t>Mit zwei Personen ergibt das einen Umfang von 135 Zeitstunden</a:t>
            </a:r>
          </a:p>
          <a:p>
            <a:r>
              <a:rPr lang="de-DE" dirty="0"/>
              <a:t>1. Woche: Projektantrag, User Stories und Use-Case Diagramm abgeben</a:t>
            </a:r>
          </a:p>
          <a:p>
            <a:r>
              <a:rPr lang="de-DE" dirty="0"/>
              <a:t>2. – 6. Woche: Projektarbeit</a:t>
            </a:r>
          </a:p>
          <a:p>
            <a:pPr lvl="1"/>
            <a:r>
              <a:rPr lang="de-DE" dirty="0"/>
              <a:t>In einem Weekly berichten Sie von Ihrem Projektfortschritt</a:t>
            </a:r>
          </a:p>
          <a:p>
            <a:r>
              <a:rPr lang="de-DE" dirty="0"/>
              <a:t>Ende der 6. Woche: Abgabe aller Dokumente im </a:t>
            </a:r>
            <a:r>
              <a:rPr lang="de-DE" dirty="0" err="1"/>
              <a:t>Git</a:t>
            </a:r>
            <a:r>
              <a:rPr lang="de-DE" dirty="0"/>
              <a:t>-Repository</a:t>
            </a:r>
          </a:p>
          <a:p>
            <a:r>
              <a:rPr lang="de-DE" dirty="0"/>
              <a:t>7. Woche: Präsentation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F8A23D-36C5-75E0-5419-C40FE49CD9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Projektablauf</a:t>
            </a:r>
          </a:p>
        </p:txBody>
      </p:sp>
    </p:spTree>
    <p:extLst>
      <p:ext uri="{BB962C8B-B14F-4D97-AF65-F5344CB8AC3E}">
        <p14:creationId xmlns:p14="http://schemas.microsoft.com/office/powerpoint/2010/main" val="29061102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007F9C3-4CCB-E270-8C99-9F89E14E0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2629131"/>
            <a:ext cx="9689432" cy="9867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sz="5900" dirty="0"/>
              <a:t>Beispielhafte Struktur</a:t>
            </a:r>
          </a:p>
          <a:p>
            <a:r>
              <a:rPr lang="de-DE" dirty="0"/>
              <a:t>Projektidee vorstellen</a:t>
            </a:r>
          </a:p>
          <a:p>
            <a:r>
              <a:rPr lang="de-DE" dirty="0"/>
              <a:t>Use-Case-Diagramm oder </a:t>
            </a:r>
            <a:br>
              <a:rPr lang="de-DE" dirty="0"/>
            </a:br>
            <a:r>
              <a:rPr lang="de-DE" dirty="0"/>
              <a:t>die top </a:t>
            </a:r>
            <a:r>
              <a:rPr lang="de-DE" dirty="0" err="1"/>
              <a:t>Userstories</a:t>
            </a:r>
            <a:endParaRPr lang="de-DE" dirty="0"/>
          </a:p>
          <a:p>
            <a:r>
              <a:rPr lang="de-DE" dirty="0"/>
              <a:t>Live Präsentation</a:t>
            </a:r>
          </a:p>
          <a:p>
            <a:r>
              <a:rPr lang="de-DE" dirty="0"/>
              <a:t>Tech Stack</a:t>
            </a:r>
          </a:p>
          <a:p>
            <a:r>
              <a:rPr lang="de-DE" dirty="0"/>
              <a:t>Software Architektur (Patterns, Objektorientierung)</a:t>
            </a:r>
          </a:p>
          <a:p>
            <a:r>
              <a:rPr lang="de-DE" dirty="0"/>
              <a:t>Klassendiagramm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79330A-1984-0E99-3C78-4B5659D74D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Präsentation</a:t>
            </a:r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AAB9E224-1BBB-B598-0AB8-76D1F80FAAAC}"/>
              </a:ext>
            </a:extLst>
          </p:cNvPr>
          <p:cNvSpPr txBox="1">
            <a:spLocks/>
          </p:cNvSpPr>
          <p:nvPr/>
        </p:nvSpPr>
        <p:spPr>
          <a:xfrm>
            <a:off x="11742821" y="2629131"/>
            <a:ext cx="11863137" cy="9867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63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1pPr>
            <a:lvl2pPr marL="127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2pPr>
            <a:lvl3pPr marL="190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3pPr>
            <a:lvl4pPr marL="254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4pPr>
            <a:lvl5pPr marL="317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5pPr>
            <a:lvl6pPr marL="381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6pPr>
            <a:lvl7pPr marL="444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7pPr>
            <a:lvl8pPr marL="5080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8pPr>
            <a:lvl9pPr marL="5715000" marR="0" indent="-63500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75000"/>
              <a:buFont typeface="Helvetica Neue"/>
              <a:buChar char="•"/>
              <a:tabLst/>
              <a:defRPr sz="5000" b="0" i="0" u="none" strike="noStrike" cap="none" spc="0" baseline="0">
                <a:solidFill>
                  <a:srgbClr val="434343"/>
                </a:solidFill>
                <a:uFillTx/>
                <a:latin typeface="+mn-lt"/>
                <a:ea typeface="+mn-ea"/>
                <a:cs typeface="+mn-cs"/>
                <a:sym typeface="Helvetica Neue Light"/>
              </a:defRPr>
            </a:lvl9pPr>
          </a:lstStyle>
          <a:p>
            <a:pPr marL="0" indent="0" hangingPunct="1">
              <a:buFont typeface="Helvetica Neue"/>
              <a:buNone/>
            </a:pPr>
            <a:endParaRPr lang="de-DE" dirty="0"/>
          </a:p>
          <a:p>
            <a:pPr hangingPunct="1"/>
            <a:r>
              <a:rPr lang="de-DE" sz="4300" dirty="0"/>
              <a:t>Code Highlights</a:t>
            </a:r>
          </a:p>
          <a:p>
            <a:pPr hangingPunct="1"/>
            <a:r>
              <a:rPr lang="de-DE" sz="4300" dirty="0"/>
              <a:t>Datenbank mit Datenbankmodell</a:t>
            </a:r>
          </a:p>
          <a:p>
            <a:pPr hangingPunct="1"/>
            <a:r>
              <a:rPr lang="de-DE" sz="4300" dirty="0"/>
              <a:t>ggf. weitere UML Diagramme</a:t>
            </a:r>
          </a:p>
          <a:p>
            <a:pPr hangingPunct="1"/>
            <a:r>
              <a:rPr lang="de-DE" sz="4300" dirty="0"/>
              <a:t>Testprotokoll</a:t>
            </a:r>
          </a:p>
          <a:p>
            <a:pPr hangingPunct="1"/>
            <a:r>
              <a:rPr lang="de-DE" sz="4300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93986465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85A8B4C-822C-9379-AEA2-58A2ABE09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Sie erhalten eine individuelle Note gemessen an Ihrem Beitrag zum Projekt.</a:t>
            </a:r>
          </a:p>
          <a:p>
            <a:r>
              <a:rPr lang="de-DE" dirty="0"/>
              <a:t>Die Notengebung in den Fächern SD, VP und GI geschieht unabhängig von den anderen Fächern. Siehe „bewertungsrelevante Bausteine“.</a:t>
            </a:r>
          </a:p>
          <a:p>
            <a:r>
              <a:rPr lang="de-DE" dirty="0"/>
              <a:t>Für Ihre sonstige Leistung (SL-Note) werden Ihre </a:t>
            </a:r>
            <a:r>
              <a:rPr lang="de-DE" dirty="0" err="1"/>
              <a:t>Weeklys</a:t>
            </a:r>
            <a:r>
              <a:rPr lang="de-DE" dirty="0"/>
              <a:t> bewertet.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C6D7AC-8BE7-2818-E496-90974A83D7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Bewertung</a:t>
            </a:r>
          </a:p>
        </p:txBody>
      </p:sp>
    </p:spTree>
    <p:extLst>
      <p:ext uri="{BB962C8B-B14F-4D97-AF65-F5344CB8AC3E}">
        <p14:creationId xmlns:p14="http://schemas.microsoft.com/office/powerpoint/2010/main" val="293786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1F8845C33455647BCED8A5F61F79A71" ma:contentTypeVersion="4" ma:contentTypeDescription="Ein neues Dokument erstellen." ma:contentTypeScope="" ma:versionID="f36e58830415235a1d43655976188a27">
  <xsd:schema xmlns:xsd="http://www.w3.org/2001/XMLSchema" xmlns:xs="http://www.w3.org/2001/XMLSchema" xmlns:p="http://schemas.microsoft.com/office/2006/metadata/properties" xmlns:ns2="859d2312-1d1f-4eb0-bc9a-d1d160e6f15f" targetNamespace="http://schemas.microsoft.com/office/2006/metadata/properties" ma:root="true" ma:fieldsID="6d33961ad59bdadea488bca7a8e349c5" ns2:_="">
    <xsd:import namespace="859d2312-1d1f-4eb0-bc9a-d1d160e6f1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d2312-1d1f-4eb0-bc9a-d1d160e6f1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C56EDC-7B4D-4033-8BDE-C63E1F740588}"/>
</file>

<file path=customXml/itemProps2.xml><?xml version="1.0" encoding="utf-8"?>
<ds:datastoreItem xmlns:ds="http://schemas.openxmlformats.org/officeDocument/2006/customXml" ds:itemID="{FB5EDFBF-DF76-4396-85DD-ECE52879F43A}"/>
</file>

<file path=customXml/itemProps3.xml><?xml version="1.0" encoding="utf-8"?>
<ds:datastoreItem xmlns:ds="http://schemas.openxmlformats.org/officeDocument/2006/customXml" ds:itemID="{FB81A264-2FE9-458A-9EFD-7AEFA5C851A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Macintosh PowerPoint</Application>
  <PresentationFormat>Benutzerdefiniert</PresentationFormat>
  <Paragraphs>59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Helvetica</vt:lpstr>
      <vt:lpstr>Helvetica Neue</vt:lpstr>
      <vt:lpstr>Helvetica Neue Light</vt:lpstr>
      <vt:lpstr>ModernPortfolio</vt:lpstr>
      <vt:lpstr>IT Projekt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Fabian Kluge</cp:lastModifiedBy>
  <cp:revision>12</cp:revision>
  <dcterms:modified xsi:type="dcterms:W3CDTF">2026-02-09T07:11:26Z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0x010100E1F8845C33455647BCED8A5F61F79A71</vt:lpwstr>
  </property>
</Properties>
</file>